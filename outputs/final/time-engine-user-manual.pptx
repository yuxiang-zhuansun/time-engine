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3bdd938bb945a6" /><Relationship Type="http://schemas.openxmlformats.org/officeDocument/2006/relationships/extended-properties" Target="/docProps/app.xml" Id="Rd9348bf46da94662" /><Relationship Type="http://schemas.openxmlformats.org/officeDocument/2006/relationships/officeDocument" Target="/ppt/presentation.xml" Id="R165dfc9341094a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e5ab9ce2dd427e"/>
  </p:sldMasterIdLst>
  <p:notesMasterIdLst>
    <p:notesMasterId xmlns:r="http://schemas.openxmlformats.org/officeDocument/2006/relationships" r:id="R7340ef3ff8ba4f0c"/>
  </p:notesMasterIdLst>
  <p:sldIdLst>
    <p:sldId xmlns:r="http://schemas.openxmlformats.org/officeDocument/2006/relationships" id="256" r:id="R60180204c83a4349"/>
    <p:sldId xmlns:r="http://schemas.openxmlformats.org/officeDocument/2006/relationships" id="257" r:id="Rade8815d4db94dfd"/>
    <p:sldId xmlns:r="http://schemas.openxmlformats.org/officeDocument/2006/relationships" id="258" r:id="R84b24cc3075f4b50"/>
    <p:sldId xmlns:r="http://schemas.openxmlformats.org/officeDocument/2006/relationships" id="259" r:id="Rfcfe884bd47745b6"/>
    <p:sldId xmlns:r="http://schemas.openxmlformats.org/officeDocument/2006/relationships" id="260" r:id="Ra33969ec98c34c5f"/>
    <p:sldId xmlns:r="http://schemas.openxmlformats.org/officeDocument/2006/relationships" id="261" r:id="R87fb5a1cd1604989"/>
    <p:sldId xmlns:r="http://schemas.openxmlformats.org/officeDocument/2006/relationships" id="262" r:id="R3837bbb591a14d77"/>
    <p:sldId xmlns:r="http://schemas.openxmlformats.org/officeDocument/2006/relationships" id="263" r:id="R6814943438a54754"/>
    <p:sldId xmlns:r="http://schemas.openxmlformats.org/officeDocument/2006/relationships" id="264" r:id="R19667e5baf734484"/>
    <p:sldId xmlns:r="http://schemas.openxmlformats.org/officeDocument/2006/relationships" id="265" r:id="Rf0c6cece7d8b45d2"/>
    <p:sldId xmlns:r="http://schemas.openxmlformats.org/officeDocument/2006/relationships" id="266" r:id="Rf6187f4c2e734da0"/>
    <p:sldId xmlns:r="http://schemas.openxmlformats.org/officeDocument/2006/relationships" id="267" r:id="R1d12f4810f814d1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704d836c0144a1" /><Relationship Type="http://schemas.openxmlformats.org/officeDocument/2006/relationships/slideMaster" Target="/ppt/slideMasters/slideMaster1.xml" Id="R9de5ab9ce2dd427e" /><Relationship Type="http://schemas.openxmlformats.org/officeDocument/2006/relationships/notesMaster" Target="/ppt/notesMasters/notesMaster1.xml" Id="R7340ef3ff8ba4f0c" /><Relationship Type="http://schemas.openxmlformats.org/officeDocument/2006/relationships/presProps" Target="/ppt/presProps.xml" Id="Refdc98208cb3456f" /><Relationship Type="http://schemas.openxmlformats.org/officeDocument/2006/relationships/viewProps" Target="/ppt/viewProps.xml" Id="Rb2cedc0cca87488e" /><Relationship Type="http://schemas.openxmlformats.org/officeDocument/2006/relationships/tableStyles" Target="/ppt/tableStyles.xml" Id="Ra9fdd1f60c6348fa" /><Relationship Type="http://schemas.openxmlformats.org/officeDocument/2006/relationships/slide" Target="/ppt/slides/slide1.xml" Id="R60180204c83a4349" /><Relationship Type="http://schemas.openxmlformats.org/officeDocument/2006/relationships/slide" Target="/ppt/slides/slide2.xml" Id="Rade8815d4db94dfd" /><Relationship Type="http://schemas.openxmlformats.org/officeDocument/2006/relationships/slide" Target="/ppt/slides/slide3.xml" Id="R84b24cc3075f4b50" /><Relationship Type="http://schemas.openxmlformats.org/officeDocument/2006/relationships/slide" Target="/ppt/slides/slide4.xml" Id="Rfcfe884bd47745b6" /><Relationship Type="http://schemas.openxmlformats.org/officeDocument/2006/relationships/slide" Target="/ppt/slides/slide5.xml" Id="Ra33969ec98c34c5f" /><Relationship Type="http://schemas.openxmlformats.org/officeDocument/2006/relationships/slide" Target="/ppt/slides/slide6.xml" Id="R87fb5a1cd1604989" /><Relationship Type="http://schemas.openxmlformats.org/officeDocument/2006/relationships/slide" Target="/ppt/slides/slide7.xml" Id="R3837bbb591a14d77" /><Relationship Type="http://schemas.openxmlformats.org/officeDocument/2006/relationships/slide" Target="/ppt/slides/slide8.xml" Id="R6814943438a54754" /><Relationship Type="http://schemas.openxmlformats.org/officeDocument/2006/relationships/slide" Target="/ppt/slides/slide9.xml" Id="R19667e5baf734484" /><Relationship Type="http://schemas.openxmlformats.org/officeDocument/2006/relationships/slide" Target="/ppt/slides/slide10.xml" Id="Rf0c6cece7d8b45d2" /><Relationship Type="http://schemas.openxmlformats.org/officeDocument/2006/relationships/slide" Target="/ppt/slides/slide11.xml" Id="Rf6187f4c2e734da0" /><Relationship Type="http://schemas.openxmlformats.org/officeDocument/2006/relationships/slide" Target="/ppt/slides/slide12.xml" Id="R1d12f4810f814d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2fc20fad4148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b67abdc20b4769" /><Relationship Type="http://schemas.openxmlformats.org/officeDocument/2006/relationships/notesMaster" Target="/ppt/notesMasters/notesMaster1.xml" Id="R84b679a1074d43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a5af822f5a4590" /><Relationship Type="http://schemas.openxmlformats.org/officeDocument/2006/relationships/notesMaster" Target="/ppt/notesMasters/notesMaster1.xml" Id="R1df735e7b8a448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ef7d6121894b06" /><Relationship Type="http://schemas.openxmlformats.org/officeDocument/2006/relationships/notesMaster" Target="/ppt/notesMasters/notesMaster1.xml" Id="Rb5d562a09b8146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eece16f6684c00" /><Relationship Type="http://schemas.openxmlformats.org/officeDocument/2006/relationships/notesMaster" Target="/ppt/notesMasters/notesMaster1.xml" Id="Re1f4f0b601a44f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497ae857ea409c" /><Relationship Type="http://schemas.openxmlformats.org/officeDocument/2006/relationships/notesMaster" Target="/ppt/notesMasters/notesMaster1.xml" Id="Rae3ea40d7ba440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284a2eef6f4aa9" /><Relationship Type="http://schemas.openxmlformats.org/officeDocument/2006/relationships/notesMaster" Target="/ppt/notesMasters/notesMaster1.xml" Id="Rc2c2ab7ac5734b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7f5f6210bb4e2b" /><Relationship Type="http://schemas.openxmlformats.org/officeDocument/2006/relationships/notesMaster" Target="/ppt/notesMasters/notesMaster1.xml" Id="Ra668699cb97e4b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700b33ce1d4d9f" /><Relationship Type="http://schemas.openxmlformats.org/officeDocument/2006/relationships/notesMaster" Target="/ppt/notesMasters/notesMaster1.xml" Id="R68f27a9d378847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1f3e22b9e541b0" /><Relationship Type="http://schemas.openxmlformats.org/officeDocument/2006/relationships/notesMaster" Target="/ppt/notesMasters/notesMaster1.xml" Id="Ra43ce42353b34d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88d552f35448a4" /><Relationship Type="http://schemas.openxmlformats.org/officeDocument/2006/relationships/notesMaster" Target="/ppt/notesMasters/notesMaster1.xml" Id="Rfd4d6b27865a49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39d63139a940d3" /><Relationship Type="http://schemas.openxmlformats.org/officeDocument/2006/relationships/notesMaster" Target="/ppt/notesMasters/notesMaster1.xml" Id="R783fd8c59eaf46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7ad861989f41e3" /><Relationship Type="http://schemas.openxmlformats.org/officeDocument/2006/relationships/notesMaster" Target="/ppt/notesMasters/notesMaster1.xml" Id="R604112d9b5fe43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fc9381057340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207370a77547f3" /><Relationship Type="http://schemas.openxmlformats.org/officeDocument/2006/relationships/slideLayout" Target="/ppt/slideLayouts/slideLayout1.xml" Id="Reec48046e1934e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c48046e1934e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34f56795e49da" /><Relationship Type="http://schemas.openxmlformats.org/officeDocument/2006/relationships/notesSlide" Target="/ppt/notesSlides/notesSlide1.xml" Id="Rca04adef422e44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9fc22ebbf4d13" /><Relationship Type="http://schemas.openxmlformats.org/officeDocument/2006/relationships/notesSlide" Target="/ppt/notesSlides/notesSlide2.xml" Id="R03c6b8986aa246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31cabda914d99" /><Relationship Type="http://schemas.openxmlformats.org/officeDocument/2006/relationships/notesSlide" Target="/ppt/notesSlides/notesSlide3.xml" Id="R3398bbe4a5304d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67f7ad59047e1" /><Relationship Type="http://schemas.openxmlformats.org/officeDocument/2006/relationships/notesSlide" Target="/ppt/notesSlides/notesSlide4.xml" Id="R4be30bdb9fb743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11970d7c594d4f" /><Relationship Type="http://schemas.openxmlformats.org/officeDocument/2006/relationships/notesSlide" Target="/ppt/notesSlides/notesSlide5.xml" Id="Re8216d21ac7947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b17a130fc4855" /><Relationship Type="http://schemas.openxmlformats.org/officeDocument/2006/relationships/notesSlide" Target="/ppt/notesSlides/notesSlide6.xml" Id="R687ce92e757241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c8bf1dceb4737" /><Relationship Type="http://schemas.openxmlformats.org/officeDocument/2006/relationships/notesSlide" Target="/ppt/notesSlides/notesSlide7.xml" Id="R2d96146d8c6849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ae538d44342f7" /><Relationship Type="http://schemas.openxmlformats.org/officeDocument/2006/relationships/notesSlide" Target="/ppt/notesSlides/notesSlide8.xml" Id="Rbec4a8e191e647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364941e124ee5" /><Relationship Type="http://schemas.openxmlformats.org/officeDocument/2006/relationships/notesSlide" Target="/ppt/notesSlides/notesSlide9.xml" Id="R04d44bc9ae5e44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b97973d90485b" /><Relationship Type="http://schemas.openxmlformats.org/officeDocument/2006/relationships/notesSlide" Target="/ppt/notesSlides/notesSlide10.xml" Id="R78847b36ae4c46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eb4d0aec6477f" /><Relationship Type="http://schemas.openxmlformats.org/officeDocument/2006/relationships/notesSlide" Target="/ppt/notesSlides/notesSlide11.xml" Id="R98fd3530f8854c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cdaa85b4847c2" /><Relationship Type="http://schemas.openxmlformats.org/officeDocument/2006/relationships/notesSlide" Target="/ppt/notesSlides/notesSlide12.xml" Id="Rad7092b85823490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854A6C-CE07-444B-8889-59A3446A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96A1E-D067-4A24-906E-59207641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F28BED-7AF9-4459-9E02-2CB31313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rPr>
              <a:t>TIME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752C9-9E6E-480B-9226-C01FEB44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A92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928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88235-A950-4244-BF7D-6F41C052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3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Time Engine 用户说明书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945F5-5289-436A-99AE-1BFAF5FD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rPr>
              <a:t>面向芯片性能仿真的时序模型开发入门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E6B10-E98F-48F4-B047-C3B17E49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723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A8BCA-27D8-4EAD-99B5-3D9E6203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C8E2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B4477-A069-4878-AF4D-79F214AD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2514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rPr>
              <a:t>先建立心智模型</a:t>
            </a:r>
          </a:p>
          <a:p xmlns:a="http://schemas.openxmlformats.org/drawingml/2006/main">
            <a:pPr algn="l">
              <a:defRPr sz="1650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rPr>
              <a:t>再理解接口</a:t>
            </a:r>
          </a:p>
          <a:p xmlns:a="http://schemas.openxmlformats.org/drawingml/2006/main">
            <a:pPr algn="l">
              <a:defRPr sz="1650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rPr>
              <a:t>最后开发组件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3FE4E-0896-4541-8531-6C9862F6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3375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9525">
            <a:solidFill>
              <a:srgbClr val="CBD8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B9B98-D268-41BA-8D9B-34C024C7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486150"/>
            <a:ext cx="2514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F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F6FEB"/>
                </a:solidFill>
                <a:latin typeface="Microsoft YaHei UI"/>
                <a:ea typeface="Microsoft YaHei UI"/>
                <a:cs typeface="Microsoft YaHei UI"/>
              </a:rPr>
              <a:t>核心路径</a:t>
            </a:r>
          </a:p>
          <a:p xmlns:a="http://schemas.openxmlformats.org/drawingml/2006/main">
            <a:pPr algn="l">
              <a:defRPr sz="1500" b="1">
                <a:solidFill>
                  <a:srgbClr val="1F6F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F6FEB"/>
                </a:solidFill>
                <a:latin typeface="Microsoft YaHei UI"/>
                <a:ea typeface="Microsoft YaHei UI"/>
                <a:cs typeface="Microsoft YaHei UI"/>
              </a:rPr>
              <a:t>Core -&gt; L1 -&gt; L2 -&gt; DRAM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69F7EB-7A71-425C-91EB-B4E06492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3375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F"/>
          </a:solidFill>
          <a:ln xmlns:a="http://schemas.openxmlformats.org/drawingml/2006/main" w="9525">
            <a:solidFill>
              <a:srgbClr val="E9D2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4AFB80-3E47-4B6C-A7C2-1386EEBD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86150"/>
            <a:ext cx="25146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rPr>
              <a:t>MVP 目标</a:t>
            </a:r>
          </a:p>
          <a:p xmlns:a="http://schemas.openxmlformats.org/drawingml/2006/main">
            <a:pPr algn="l">
              <a:defRPr sz="1575" b="1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rPr>
              <a:t>小而完整，可手算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2C9F66-4482-4D38-BE12-1804A521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rPr>
              <a:t>CA Chip Simulation Engine · Editable PPTX</a:t>
            </a:r>
          </a:p>
        </p:txBody>
      </p:sp>
    </p:spTree>
    <p:extLst>
      <p:ext uri="{BB962C8B-B14F-4D97-AF65-F5344CB8AC3E}">
        <p14:creationId xmlns:p14="http://schemas.microsoft.com/office/powerpoint/2010/main" val="3353122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E7687D-6666-4F26-B11F-5F45C1B6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BC7B9-81D6-432A-8CBE-6A31BDB6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253EF-FC87-45C8-94E6-1E2F896B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rPr>
              <a:t>WHY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962FB-0A50-441E-86D7-A35EF806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A92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928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9D5A8-0E2B-4478-A97F-F2618110B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芯片性能仿真的核心问题是“动作何时发生”。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99157-4A3A-40A3-86E6-94B9A58B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rPr>
              <a:t>我们关心请求、延迟、资源竞争和返回时间，而不是每根信号线的电平。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8D133-628C-4F80-81FE-C423F2CD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619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AD2F4-732F-4B49-BF15-F76FF12F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2763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Core</a:t>
            </a:r>
          </a:p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发起 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05A0E5-AE0B-4178-97C1-B355D74E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337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67D96-7AD2-47CB-97B4-42D7B657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861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F6A30-E69C-46B0-81AE-3612860B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57500"/>
            <a:ext cx="1619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B28758-4A68-43E9-B2D1-1FB4BBA8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09900"/>
            <a:ext cx="12763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L1</a:t>
            </a:r>
          </a:p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判断 hit / miss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C8BB5-3039-494B-9CF2-56330DE8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337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0EC9FE-EE6E-48E7-A702-BF4EA60C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861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09925A-9E98-4B86-B348-D2C76209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57500"/>
            <a:ext cx="1619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441D24-01F0-4E0E-A1EE-DECA1A2F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09900"/>
            <a:ext cx="12763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L2</a:t>
            </a:r>
          </a:p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接收 miss 请求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43E2EC-2E89-48F2-9F3D-2CE37198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337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7D348F-C602-4E84-9652-E937B56F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861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E19648-4440-4477-8D17-B33B9D0A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1619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432A68-D7FA-453B-8877-D543318E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9900"/>
            <a:ext cx="12763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DRAM</a:t>
            </a:r>
          </a:p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服务并返回数据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0780E0-9FD8-4991-95F1-695BCA94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337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C04B4D-D3A7-4DFD-B469-E76D4A27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861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9E7F6F-CD14-4232-87E2-D569D2CB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1619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F88DFB-0DFA-4172-ABCC-D35C87D6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09900"/>
            <a:ext cx="12763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Core</a:t>
            </a:r>
          </a:p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wakeup 依赖指令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E1A004-1E58-4289-8DA4-3AF381F9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00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Time Engine 把这些动作抽象成 Event：某个仿真时间点，执行某个 callback。</a:t>
            </a:r>
          </a:p>
        </p:txBody>
      </p:sp>
    </p:spTree>
    <p:extLst>
      <p:ext uri="{BB962C8B-B14F-4D97-AF65-F5344CB8AC3E}">
        <p14:creationId xmlns:p14="http://schemas.microsoft.com/office/powerpoint/2010/main" val="12005816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FAD25C-B18D-41D2-8C1C-8758A027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45E58-92E7-4DB5-AF7B-41A6A856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87D05-B507-491E-B4AE-1FC86576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rPr>
              <a:t>DESIGN IDEA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6E84D-F896-4076-B4C2-B98F4380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A92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928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0147E-06A7-41B7-8FF4-DB389C1A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时间不逐点流动，而是跳到下一个事件。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09395-4ADD-43D7-AE41-0605B68C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rPr>
              <a:t>离散事件让大量空闲周期消失在仿真开销之外。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2E04F9-9514-46EE-8F29-6C758F5A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000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D"/>
          </a:solidFill>
          <a:ln xmlns:a="http://schemas.openxmlformats.org/drawingml/2006/main" w="9525">
            <a:solidFill>
              <a:srgbClr val="EAD2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8F7FD-0F35-4F1D-A493-E1D05A41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3657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rPr>
              <a:t>逐周期 tick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rPr>
              <a:t>for each cycle:</a:t>
            </a:r>
          </a:p>
          <a:p xmlns:a="http://schemas.openxmlformats.org/drawingml/2006/main">
            <a:pPr algn="l">
              <a:defRPr sz="1500" b="0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rPr>
              <a:t>  for each component:</a:t>
            </a:r>
          </a:p>
          <a:p xmlns:a="http://schemas.openxmlformats.org/drawingml/2006/main">
            <a:pPr algn="l">
              <a:defRPr sz="1500" b="0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rPr>
              <a:t>    component.tick()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rPr>
              <a:t>简单，但会扫描大量空闲模块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47F062-3AAC-48A6-AA22-FEA97B7E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76500"/>
            <a:ext cx="4000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C8E2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3F7D0-C582-4316-BBCF-F2AEC15B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28900"/>
            <a:ext cx="36576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rPr>
              <a:t>事件驱动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rPr>
              <a:t>EventQueue 只保存未来动作</a:t>
            </a:r>
          </a:p>
          <a:p xmlns:a="http://schemas.openxmlformats.org/drawingml/2006/main">
            <a:pPr algn="l">
              <a:defRPr sz="1500" b="0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rPr>
              <a:t>TimeEngine 直接推进到下一个 Event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rPr>
              <a:t>适合性能仿真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DADF5-3C18-4602-8600-ECF5D42F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838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6E0B8-2250-43E5-8CB6-ECA6065A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例：T=1000 ps 到 T=50000 ps 无事件，now 直接跳到 50000 ps。</a:t>
            </a:r>
          </a:p>
        </p:txBody>
      </p:sp>
    </p:spTree>
    <p:extLst>
      <p:ext uri="{BB962C8B-B14F-4D97-AF65-F5344CB8AC3E}">
        <p14:creationId xmlns:p14="http://schemas.microsoft.com/office/powerpoint/2010/main" val="3825895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430352-3292-4DFE-A3EC-0152A1B3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E416A-3F43-4107-954E-00E8881B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09AA41-890D-4D25-B5E8-B8224168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rPr>
              <a:t>INSIDE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AA5F2-6527-46A2-873A-E7A22203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A92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928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45A3C-E2ED-4853-B465-F4AC853E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内部结构很小：时间、队列、取消表、序号和 trace。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40C2A-ABE9-4313-9AEB-C21FA2CE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rPr>
              <a:t>TimeEngine 不理解硬件策略，只维护事件语义。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204B4-80AD-4E56-A478-7B7714D9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286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9525">
            <a:solidFill>
              <a:srgbClr val="CBD8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A7C00-A742-41F6-94F1-C44C6249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1943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6F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1F6FEB"/>
                </a:solidFill>
                <a:latin typeface="Microsoft YaHei UI"/>
                <a:ea typeface="Microsoft YaHei UI"/>
                <a:cs typeface="Microsoft YaHei UI"/>
              </a:rPr>
              <a:t>now_</a:t>
            </a:r>
          </a:p>
          <a:p xmlns:a="http://schemas.openxmlformats.org/drawingml/2006/main">
            <a:pPr algn="ctr">
              <a:defRPr sz="1575" b="1">
                <a:solidFill>
                  <a:srgbClr val="1F6F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1F6FEB"/>
                </a:solidFill>
                <a:latin typeface="Microsoft YaHei UI"/>
                <a:ea typeface="Microsoft YaHei UI"/>
                <a:cs typeface="Microsoft YaHei UI"/>
              </a:rPr>
              <a:t>当前仿真时间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238EDB-13C3-4E6A-A203-1AA9CF08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05050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EDE8E-538E-4CD9-A3FA-241F577D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57450"/>
            <a:ext cx="2514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EventQueue</a:t>
            </a:r>
          </a:p>
          <a:p xmlns:a="http://schemas.openxmlformats.org/drawingml/2006/main">
            <a:pPr algn="ctr">
              <a:defRPr sz="157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priority_queue</a:t>
            </a:r>
          </a:p>
          <a:p xmlns:a="http://schemas.openxmlformats.org/drawingml/2006/main">
            <a:pPr algn="ctr">
              <a:defRPr sz="157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保存未来事件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ED8DA4-8241-4901-AE88-D0361A2E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76500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01768A-3DB8-4F46-BF18-A9C74620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2890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pending_</a:t>
            </a:r>
          </a:p>
          <a:p xmlns:a="http://schemas.openxmlformats.org/drawingml/2006/main">
            <a:pPr algn="ctr">
              <a:defRPr sz="15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EventId -&gt; Event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99E6B-3967-431D-A435-D25F5FF9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146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D29C43-53BC-4157-8F79-09569A0C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8670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76310A-960D-4768-BD35-2E080341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146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CC5F5C-904F-4F51-AD81-F6D25C33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8670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07BF3A-00ED-433D-8ED2-B7ED9F94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33875"/>
            <a:ext cx="266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C8E2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942EB3-FDAB-4C71-AF40-42B01968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86275"/>
            <a:ext cx="2324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rPr>
              <a:t>sequence generator</a:t>
            </a:r>
          </a:p>
          <a:p xmlns:a="http://schemas.openxmlformats.org/drawingml/2006/main">
            <a:pPr algn="ctr">
              <a:defRPr sz="1500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rPr>
              <a:t>稳定创建顺序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1B45FC-B10F-478C-8F1E-1D427B8C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33875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F"/>
          </a:solidFill>
          <a:ln xmlns:a="http://schemas.openxmlformats.org/drawingml/2006/main" w="9525">
            <a:solidFill>
              <a:srgbClr val="E9D2A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1B6386-E916-4E78-BF51-26B0E169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486275"/>
            <a:ext cx="2514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rPr>
              <a:t>TraceSink</a:t>
            </a:r>
          </a:p>
          <a:p xmlns:a="http://schemas.openxmlformats.org/drawingml/2006/main">
            <a:pPr algn="ctr">
              <a:defRPr sz="1350" b="1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rPr>
              <a:t>scheduled / cancelled / executed</a:t>
            </a:r>
          </a:p>
        </p:txBody>
      </p:sp>
    </p:spTree>
    <p:extLst>
      <p:ext uri="{BB962C8B-B14F-4D97-AF65-F5344CB8AC3E}">
        <p14:creationId xmlns:p14="http://schemas.microsoft.com/office/powerpoint/2010/main" val="20677038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46BEF5-E689-4A0C-A75C-22AC4C1A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B37CD-87D2-4221-B168-EE0E4C91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74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BEB70-259F-47AE-9E5C-88C70DF4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rPr>
              <a:t>ORDERING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73974-65D7-431B-8BE1-7D94A140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A92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928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B7E9B-BF95-4448-B55E-EE405991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事件排序必须稳定，否则性能仿真不可复现。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A6D47-6D80-4688-A650-35137CB9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rPr>
              <a:t>同样输入跑两次，事件顺序和统计结果应该一致。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78C01-9E54-4D48-9023-D1C100F4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E6BAB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8735F-B9F6-49B6-B2FE-EDB9385F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5474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B54747"/>
                </a:solidFill>
                <a:latin typeface="Microsoft YaHei UI"/>
                <a:ea typeface="Microsoft YaHei UI"/>
                <a:cs typeface="Microsoft YaHei UI"/>
              </a:rPr>
              <a:t>time</a:t>
            </a:r>
          </a:p>
          <a:p xmlns:a="http://schemas.openxmlformats.org/drawingml/2006/main">
            <a:pPr algn="ctr">
              <a:defRPr sz="1350" b="1">
                <a:solidFill>
                  <a:srgbClr val="B5474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B54747"/>
                </a:solidFill>
                <a:latin typeface="Microsoft YaHei UI"/>
                <a:ea typeface="Microsoft YaHei UI"/>
                <a:cs typeface="Microsoft YaHei UI"/>
              </a:rPr>
              <a:t>谁的仿真时间更早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86C020-C4A0-4303-AC2D-20DC0161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861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7E127-5D25-496F-B23E-6F0AFFE0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2385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A22D4B-082F-4A1F-81F9-A3BDA2BC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68CE5-4D85-49AB-B5CB-69C827CA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14650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phase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同一时间点内的阶段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67D24-ABF6-4077-B22E-F2D1A9AB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861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8B6A5A-2B2E-459B-AC7C-363D045A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2385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D4672-55FB-403C-8245-654C353A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6225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472C8-42A5-4968-BFBE-5A0EFDDB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14650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priority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少量显式优先级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65D2C6-B498-4783-BFA7-11888808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861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6FCBB5-9863-471B-AE46-7B9B048F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2385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5C7704-1CFB-44F7-866E-C4EF2FE4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6225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FEB186-8804-4815-AD18-0C6EE6BF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14650"/>
            <a:ext cx="1466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sequence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创建顺序兜底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D5937C-17F2-4187-8B50-692D2526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02A"/>
                </a:solidFill>
                <a:latin typeface="Cascadia Mono"/>
                <a:ea typeface="Cascadia Mono"/>
                <a:cs typeface="Cascadia Mono"/>
              </a:defRPr>
            </a:pPr>
            <a:r>
              <a:rPr sz="2250" b="1">
                <a:solidFill>
                  <a:srgbClr val="18202A"/>
                </a:solidFill>
                <a:latin typeface="Cascadia Mono"/>
                <a:ea typeface="Cascadia Mono"/>
                <a:cs typeface="Cascadia Mono"/>
              </a:rPr>
              <a:t>排序规则：time -&gt; phase -&gt; priority -&gt; sequence</a:t>
            </a:r>
          </a:p>
        </p:txBody>
      </p:sp>
    </p:spTree>
    <p:extLst>
      <p:ext uri="{BB962C8B-B14F-4D97-AF65-F5344CB8AC3E}">
        <p14:creationId xmlns:p14="http://schemas.microsoft.com/office/powerpoint/2010/main" val="210393577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89B887-6CFE-47AD-89E2-015E1D9C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F95FC-6658-41E7-A8C0-D6F1426B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AA114-9F49-4287-B3EE-AF86BAE6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rPr>
              <a:t>CLOCK DOMAIN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9FE6B-FDA1-459F-81BF-F803394D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A92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928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04663-0067-4F8C-BD19-004465DB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ClockDomain 把各自的 cycle 转成统一 SimTime。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811A7-93C4-42CE-91FA-F1FC4E16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rPr>
              <a:t>CPU、NoC、DRAM 频率不同，但所有事件最终必须落在同一条时间线上。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69502-395B-4B97-90BC-895D81F7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9525">
            <a:solidFill>
              <a:srgbClr val="CBD8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55A83-D830-4359-974A-5A6B382E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F6F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1F6FEB"/>
                </a:solidFill>
                <a:latin typeface="Microsoft YaHei UI"/>
                <a:ea typeface="Microsoft YaHei UI"/>
                <a:cs typeface="Microsoft YaHei UI"/>
              </a:rPr>
              <a:t>CPU</a:t>
            </a:r>
          </a:p>
          <a:p xmlns:a="http://schemas.openxmlformats.org/drawingml/2006/main">
            <a:pPr algn="ctr">
              <a:defRPr sz="1575" b="1">
                <a:solidFill>
                  <a:srgbClr val="1F6F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1F6FEB"/>
                </a:solidFill>
                <a:latin typeface="Microsoft YaHei UI"/>
                <a:ea typeface="Microsoft YaHei UI"/>
                <a:cs typeface="Microsoft YaHei UI"/>
              </a:rPr>
              <a:t>1000 ps / 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58B56-C2C0-4C24-9873-46417687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C8E2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28BC5-46B9-44A9-BC7A-C259F329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29025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rPr>
              <a:t>NoC</a:t>
            </a:r>
          </a:p>
          <a:p xmlns:a="http://schemas.openxmlformats.org/drawingml/2006/main">
            <a:pPr algn="ctr">
              <a:defRPr sz="1575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rPr>
              <a:t>500 ps / cycle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129A6-C7FE-4F99-9AE5-4302A695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F"/>
          </a:solidFill>
          <a:ln xmlns:a="http://schemas.openxmlformats.org/drawingml/2006/main" w="9525">
            <a:solidFill>
              <a:srgbClr val="E9D2A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5F6D9-E559-471B-84C7-E2531AB2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43450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rPr>
              <a:t>DRAM</a:t>
            </a:r>
          </a:p>
          <a:p xmlns:a="http://schemas.openxmlformats.org/drawingml/2006/main">
            <a:pPr algn="ctr">
              <a:defRPr sz="1575" b="1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rPr>
              <a:t>1250 ps / cycle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463AF-8562-4696-B7A1-4AF22061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5334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936"/>
          </a:solidFill>
          <a:ln xmlns:a="http://schemas.openxmlformats.org/drawingml/2006/main" w="9525">
            <a:solidFill>
              <a:srgbClr val="2F3A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51951-EA96-45EA-AA31-D0594F32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33650"/>
            <a:ext cx="49911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EDF5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E8EDF5"/>
                </a:solidFill>
                <a:latin typeface="Cascadia Mono"/>
                <a:ea typeface="Cascadia Mono"/>
                <a:cs typeface="Cascadia Mono"/>
              </a:rPr>
              <a:t>ClockDomain cpu("cpu", 1000);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E8EDF5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E8EDF5"/>
                </a:solidFill>
                <a:latin typeface="Cascadia Mono"/>
                <a:ea typeface="Cascadia Mono"/>
                <a:cs typeface="Cascadia Mono"/>
              </a:rPr>
              <a:t>cpu.nextEdge(2300)       // 3000</a:t>
            </a:r>
          </a:p>
          <a:p xmlns:a="http://schemas.openxmlformats.org/drawingml/2006/main">
            <a:pPr algn="l">
              <a:defRPr sz="1500" b="0">
                <a:solidFill>
                  <a:srgbClr val="E8EDF5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E8EDF5"/>
                </a:solidFill>
                <a:latin typeface="Cascadia Mono"/>
                <a:ea typeface="Cascadia Mono"/>
                <a:cs typeface="Cascadia Mono"/>
              </a:rPr>
              <a:t>cpu.cyclesFromNow(2300, 3)</a:t>
            </a:r>
          </a:p>
          <a:p xmlns:a="http://schemas.openxmlformats.org/drawingml/2006/main">
            <a:pPr algn="l">
              <a:defRPr sz="1500" b="0">
                <a:solidFill>
                  <a:srgbClr val="E8EDF5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E8EDF5"/>
                </a:solidFill>
                <a:latin typeface="Cascadia Mono"/>
                <a:ea typeface="Cascadia Mono"/>
                <a:cs typeface="Cascadia Mono"/>
              </a:rPr>
              <a:t>// 3000 + 3 * 1000 = 6000 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BAC5A-0754-4945-B195-F4B79179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91050"/>
            <a:ext cx="590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关键内涵：cycle-level 模型先对齐到下一个 clock edge，再加 cycle 延迟。</a:t>
            </a:r>
          </a:p>
        </p:txBody>
      </p:sp>
    </p:spTree>
    <p:extLst>
      <p:ext uri="{BB962C8B-B14F-4D97-AF65-F5344CB8AC3E}">
        <p14:creationId xmlns:p14="http://schemas.microsoft.com/office/powerpoint/2010/main" val="11648513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7D4CA3-5589-42B4-8920-8AE821B7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193BC-286F-4665-89B8-85648538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64BBF-7033-4C95-AF3F-7FB7958A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rPr>
              <a:t>SCHEDULING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BB7D2-465F-478C-ABB0-C19D1376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A92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928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88E94-8871-4547-AA6D-E61C7211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三个调度接口，本质都是创建未来事件。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6B411-B06A-4486-87BB-C64C17AD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rPr>
              <a:t>区别只在于“事件时间”如何计算。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1019F-0C4C-4E84-8968-A2F1696A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9525">
            <a:solidFill>
              <a:srgbClr val="CBD8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BB929D-14A1-4C12-B3E1-2E241DD6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90775"/>
            <a:ext cx="2514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6F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F6FEB"/>
                </a:solidFill>
                <a:latin typeface="Microsoft YaHei UI"/>
                <a:ea typeface="Microsoft YaHei UI"/>
                <a:cs typeface="Microsoft YaHei UI"/>
              </a:rPr>
              <a:t>scheduleAt</a:t>
            </a:r>
          </a:p>
          <a:p xmlns:a="http://schemas.openxmlformats.org/drawingml/2006/main">
            <a:pPr algn="ctr">
              <a:defRPr sz="1650" b="1">
                <a:solidFill>
                  <a:srgbClr val="1F6F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F6FEB"/>
                </a:solidFill>
                <a:latin typeface="Microsoft YaHei UI"/>
                <a:ea typeface="Microsoft YaHei UI"/>
                <a:cs typeface="Microsoft YaHei UI"/>
              </a:rPr>
              <a:t>绝对时间</a:t>
            </a:r>
          </a:p>
          <a:p xmlns:a="http://schemas.openxmlformats.org/drawingml/2006/main">
            <a:pPr algn="ctr">
              <a:defRPr sz="1650" b="1">
                <a:solidFill>
                  <a:srgbClr val="1F6F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F6FEB"/>
                </a:solidFill>
                <a:latin typeface="Microsoft YaHei UI"/>
                <a:ea typeface="Microsoft YaHei UI"/>
                <a:cs typeface="Microsoft YaHei UI"/>
              </a:rPr>
              <a:t>T =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EBAB6-0D8D-4689-925E-805ACA91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C8E2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AB4A2-3260-4076-B680-F76FFE9B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90775"/>
            <a:ext cx="2514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rPr>
              <a:t>scheduleAfter</a:t>
            </a:r>
          </a:p>
          <a:p xmlns:a="http://schemas.openxmlformats.org/drawingml/2006/main">
            <a:pPr algn="ctr">
              <a:defRPr sz="1650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rPr>
              <a:t>相对时间</a:t>
            </a:r>
          </a:p>
          <a:p xmlns:a="http://schemas.openxmlformats.org/drawingml/2006/main">
            <a:pPr algn="ctr">
              <a:defRPr sz="1650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rPr>
              <a:t>T = now + delay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BAEDE-0F2E-4477-B2FB-BE4DC13B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38375"/>
            <a:ext cx="2857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F"/>
          </a:solidFill>
          <a:ln xmlns:a="http://schemas.openxmlformats.org/drawingml/2006/main" w="9525">
            <a:solidFill>
              <a:srgbClr val="E9D2A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1B791-AAEC-4262-83C0-F2590045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90775"/>
            <a:ext cx="2514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rPr>
              <a:t>scheduleCycles</a:t>
            </a:r>
          </a:p>
          <a:p xmlns:a="http://schemas.openxmlformats.org/drawingml/2006/main">
            <a:pPr algn="ctr">
              <a:defRPr sz="1500" b="1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rPr>
              <a:t>时钟域 cycle</a:t>
            </a:r>
          </a:p>
          <a:p xmlns:a="http://schemas.openxmlformats.org/drawingml/2006/main">
            <a:pPr algn="ctr">
              <a:defRPr sz="1500" b="1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rPr>
              <a:t>T = nextEdge + cycles * period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543A2-8400-4D84-A988-58DAC0C0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8572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936"/>
          </a:solidFill>
          <a:ln xmlns:a="http://schemas.openxmlformats.org/drawingml/2006/main" w="9525">
            <a:solidFill>
              <a:srgbClr val="2F3A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8E0BD1-0AF2-4153-8BF7-D738E5AF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91025"/>
            <a:ext cx="82296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EDF5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E8EDF5"/>
                </a:solidFill>
                <a:latin typeface="Cascadia Mono"/>
                <a:ea typeface="Cascadia Mono"/>
                <a:cs typeface="Cascadia Mono"/>
              </a:rPr>
              <a:t>EventId scheduleAt(SimTime time, Phase phase, Callback cb,</a:t>
            </a:r>
          </a:p>
          <a:p xmlns:a="http://schemas.openxmlformats.org/drawingml/2006/main">
            <a:pPr algn="l">
              <a:defRPr sz="1350" b="0">
                <a:solidFill>
                  <a:srgbClr val="E8EDF5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>
                <a:solidFill>
                  <a:srgbClr val="E8EDF5"/>
                </a:solidFill>
                <a:latin typeface="Cascadia Mono"/>
                <a:ea typeface="Cascadia Mono"/>
                <a:cs typeface="Cascadia Mono"/>
              </a:rPr>
              <a:t>                   int priority = 0, std::string label = {});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2608AD-7D30-4E61-A3AB-9C782AF0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返回 EventId，用于 cancel 和调试；label 只用于 trace，不影响执行逻辑。</a:t>
            </a:r>
          </a:p>
        </p:txBody>
      </p:sp>
    </p:spTree>
    <p:extLst>
      <p:ext uri="{BB962C8B-B14F-4D97-AF65-F5344CB8AC3E}">
        <p14:creationId xmlns:p14="http://schemas.microsoft.com/office/powerpoint/2010/main" val="15297729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61F10F-DD5E-4090-8D33-9E8CE9A9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B77FF1-0A3E-4D6D-9391-CC44D285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04DF3-A582-4191-9C03-F3A9AFC4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rPr>
              <a:t>PHASE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A72B9D-3457-4D37-8580-CA77A13F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A92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928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EAC73-3465-4118-A2EB-CFFD77E3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Phase 是同一时间点内的执行阶段。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28741-CDA1-4F43-96F8-26A0E683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rPr>
              <a:t>它避免模型依赖隐式调用顺序，让同一 cycle 的读、算、仲裁、更新有明确语义。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B8765-2C38-46A1-BD57-77ACFF23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05125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623DC-E8D6-4969-90F4-FACA81CC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371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6F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F6FEB"/>
                </a:solidFill>
                <a:latin typeface="Microsoft YaHei UI"/>
                <a:ea typeface="Microsoft YaHei UI"/>
                <a:cs typeface="Microsoft YaHei UI"/>
              </a:rPr>
              <a:t>Input</a:t>
            </a:r>
          </a:p>
          <a:p xmlns:a="http://schemas.openxmlformats.org/drawingml/2006/main">
            <a:pPr algn="ctr">
              <a:defRPr sz="1500" b="1">
                <a:solidFill>
                  <a:srgbClr val="1F6FE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1F6FEB"/>
                </a:solidFill>
                <a:latin typeface="Microsoft YaHei UI"/>
                <a:ea typeface="Microsoft YaHei UI"/>
                <a:cs typeface="Microsoft YaHei UI"/>
              </a:rPr>
              <a:t>接收请求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8DE81-9E74-4DF5-A50C-7560FCBE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290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36399-7685-4E24-BFCA-30E0059D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3813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32DFD5-7B27-4FED-BABF-1673C744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05125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8F7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2F3BB9-1F16-444E-A2DB-4ECE877C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57525"/>
            <a:ext cx="1371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rPr>
              <a:t>Compute</a:t>
            </a:r>
          </a:p>
          <a:p xmlns:a="http://schemas.openxmlformats.org/drawingml/2006/main">
            <a:pPr algn="ctr">
              <a:defRPr sz="1500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rPr>
              <a:t>本地决策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96EA9-BAE4-4BF1-95E7-F4495FDD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290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B40BE-0882-41EE-9DBB-B24803B0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813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8F4648-4182-4C94-BDAC-9F2FA923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05125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7D1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A5B207-610C-4711-9EDC-6DDBD2B1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57525"/>
            <a:ext cx="1371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rPr>
              <a:t>Arbitrate</a:t>
            </a:r>
          </a:p>
          <a:p xmlns:a="http://schemas.openxmlformats.org/drawingml/2006/main">
            <a:pPr algn="ctr">
              <a:defRPr sz="1500" b="1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rPr>
              <a:t>资源竞争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53109C-A183-43E1-BA95-407FB8E8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04F13B-E518-4155-9E49-CBBD17E0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813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FA44D5-3265-4C24-9BF8-1B373B8E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05125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D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F3BB01-DE98-4400-984F-12548B89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57525"/>
            <a:ext cx="1371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4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E7D4F"/>
                </a:solidFill>
                <a:latin typeface="Microsoft YaHei UI"/>
                <a:ea typeface="Microsoft YaHei UI"/>
                <a:cs typeface="Microsoft YaHei UI"/>
              </a:rPr>
              <a:t>Update</a:t>
            </a:r>
          </a:p>
          <a:p xmlns:a="http://schemas.openxmlformats.org/drawingml/2006/main">
            <a:pPr algn="ctr">
              <a:defRPr sz="1500" b="1">
                <a:solidFill>
                  <a:srgbClr val="2E7D4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E7D4F"/>
                </a:solidFill>
                <a:latin typeface="Microsoft YaHei UI"/>
                <a:ea typeface="Microsoft YaHei UI"/>
                <a:cs typeface="Microsoft YaHei UI"/>
              </a:rPr>
              <a:t>状态更新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902600-7039-4297-AB34-7BDD4DDB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2900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6B43EC-83F4-47DD-A0EC-AC3A73E2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3813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998CEC-5D68-4716-B336-29502916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05125"/>
            <a:ext cx="171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8717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ABE284-9E3B-42FC-BEE1-048CEE3C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57525"/>
            <a:ext cx="1371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rPr>
              <a:t>Trace</a:t>
            </a:r>
          </a:p>
          <a:p xmlns:a="http://schemas.openxmlformats.org/drawingml/2006/main">
            <a:pPr algn="ctr">
              <a:defRPr sz="1500" b="1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rPr>
              <a:t>记录结果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540FCE-F3DE-447D-8768-F19FE86B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第一版可以只用 Input / Update；当同一时间点出现资源竞争或状态读写顺序问题，再启用 Compute / Arbitrate。</a:t>
            </a:r>
          </a:p>
        </p:txBody>
      </p:sp>
    </p:spTree>
    <p:extLst>
      <p:ext uri="{BB962C8B-B14F-4D97-AF65-F5344CB8AC3E}">
        <p14:creationId xmlns:p14="http://schemas.microsoft.com/office/powerpoint/2010/main" val="44853300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450E22-0190-48A6-A25A-C9C5E9E7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6139E-14FA-440D-A4BF-8B8FB0A8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504F6-1D21-422A-9030-FD1971FB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rPr>
              <a:t>MODEL DEVELOPMENT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49971-7ED4-4E7B-96B8-5B36A108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A92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928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0A291-2F2F-4CCB-A78B-A1D7F007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写模型时，组件负责硬件策略，TimeEngine 负责未来动作。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2758B-319D-4A98-8730-70999220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rPr>
              <a:t>用户不用写 EventQueue，只需要在合适时机 schedule callback。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880AC-F347-4987-8FA4-478A133A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F5212-6077-47C4-A8A5-3180A1B1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1276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1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定义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2324A-176D-4C59-A5B9-D8B564B3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3337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37FC06-DF4B-49B4-9D13-EB18E3EB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861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1C08E-4B50-49C3-981C-C93ADCF3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813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63E289-A9F9-4BF4-90B0-CFD0F6AB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33700"/>
            <a:ext cx="1276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2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组件接收请求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DE1E3-8264-41BF-BB6B-FA86C6F1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337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0FE5A1-B7D5-4951-B1D3-B153E348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861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DF4977-8E36-4723-BD45-23509493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813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0C560F-7748-406F-A1F7-7F82EE07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33700"/>
            <a:ext cx="1276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3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决定延迟和后续动作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5A2576-EB1B-4203-9AE0-F2C4FA1E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3337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933718-6179-4BCD-8121-AE843F155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861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14B118-1D2D-49E3-B831-8EBC4500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813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C8E2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584F66-CA5E-41EE-B5FE-ECCA9E8C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33700"/>
            <a:ext cx="1276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rPr>
              <a:t>4</a:t>
            </a:r>
          </a:p>
          <a:p xmlns:a="http://schemas.openxmlformats.org/drawingml/2006/main">
            <a:pPr algn="ctr">
              <a:defRPr sz="1350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rPr>
              <a:t>schedule callback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2423F6-5B64-4B61-BBCD-EEDDC191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3337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7674FA-F157-4537-8FB4-D66AD747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861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78C55D-E5BC-4965-B8A7-FB6F7249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813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B3B732-0D44-4874-9661-EFC77DC7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33700"/>
            <a:ext cx="1276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5</a:t>
            </a:r>
          </a:p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更新 stats / trace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DD8088-A56F-4023-BEC7-98C0FEB4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7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最小原则：先把 demo 的时间线手算清楚，再抽象更复杂接口。</a:t>
            </a:r>
          </a:p>
        </p:txBody>
      </p:sp>
    </p:spTree>
    <p:extLst>
      <p:ext uri="{BB962C8B-B14F-4D97-AF65-F5344CB8AC3E}">
        <p14:creationId xmlns:p14="http://schemas.microsoft.com/office/powerpoint/2010/main" val="166683680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7D251A-B3F1-47A2-A482-912F55F9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4598D-39C1-4162-A289-11635489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F7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9E0FBF-49BC-48E4-BBDE-55D87569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rPr>
              <a:t>RESOURCE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1C78C-D9C7-4810-ACC1-C801B113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A92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928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55EB2-B0AA-45BD-B95C-21479E72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TimedResource 是第一版资源占用模型。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A0CE4-636A-4DF1-95A4-49BAE5CB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rPr>
              <a:t>它用 busyUntil 表达一个资源何时可用，用 completion event 表达请求何时完成。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886D5-2FC7-47EE-A3C6-7228704C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530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936"/>
          </a:solidFill>
          <a:ln xmlns:a="http://schemas.openxmlformats.org/drawingml/2006/main" w="9525">
            <a:solidFill>
              <a:srgbClr val="2F3A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00430-9594-4101-AAB3-5783814E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610100" cy="1743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8EDF5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>
                <a:solidFill>
                  <a:srgbClr val="E8EDF5"/>
                </a:solidFill>
                <a:latin typeface="Cascadia Mono"/>
                <a:ea typeface="Cascadia Mono"/>
                <a:cs typeface="Cascadia Mono"/>
              </a:rPr>
              <a:t>start = max(engine.now(), busyUntil)</a:t>
            </a:r>
          </a:p>
          <a:p xmlns:a="http://schemas.openxmlformats.org/drawingml/2006/main">
            <a:pPr algn="l">
              <a:defRPr sz="1425" b="0">
                <a:solidFill>
                  <a:srgbClr val="E8EDF5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>
                <a:solidFill>
                  <a:srgbClr val="E8EDF5"/>
                </a:solidFill>
                <a:latin typeface="Cascadia Mono"/>
                <a:ea typeface="Cascadia Mono"/>
                <a:cs typeface="Cascadia Mono"/>
              </a:rPr>
              <a:t>wait = start - engine.now()</a:t>
            </a:r>
          </a:p>
          <a:p xmlns:a="http://schemas.openxmlformats.org/drawingml/2006/main">
            <a:pPr algn="l">
              <a:defRPr sz="1425" b="0">
                <a:solidFill>
                  <a:srgbClr val="E8EDF5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>
                <a:solidFill>
                  <a:srgbClr val="E8EDF5"/>
                </a:solidFill>
                <a:latin typeface="Cascadia Mono"/>
                <a:ea typeface="Cascadia Mono"/>
                <a:cs typeface="Cascadia Mono"/>
              </a:rPr>
              <a:t>completion = start + serviceTime</a:t>
            </a:r>
          </a:p>
          <a:p xmlns:a="http://schemas.openxmlformats.org/drawingml/2006/main">
            <a:pPr algn="l">
              <a:defRPr sz="1425" b="0">
                <a:solidFill>
                  <a:srgbClr val="E8EDF5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>
                <a:solidFill>
                  <a:srgbClr val="E8EDF5"/>
                </a:solidFill>
                <a:latin typeface="Cascadia Mono"/>
                <a:ea typeface="Cascadia Mono"/>
                <a:cs typeface="Cascadia Mono"/>
              </a:rPr>
              <a:t>busyUntil = completion</a:t>
            </a:r>
          </a:p>
          <a:p xmlns:a="http://schemas.openxmlformats.org/drawingml/2006/main">
            <a:pPr algn="l">
              <a:defRPr sz="1425" b="0">
                <a:solidFill>
                  <a:srgbClr val="E8EDF5"/>
                </a:solidFill>
                <a:latin typeface="Cascadia Mono"/>
                <a:ea typeface="Cascadia Mono"/>
                <a:cs typeface="Cascadia Mono"/>
              </a:defRPr>
            </a:pPr>
            <a:r>
              <a:rPr sz="1425" b="0">
                <a:solidFill>
                  <a:srgbClr val="E8EDF5"/>
                </a:solidFill>
                <a:latin typeface="Cascadia Mono"/>
                <a:ea typeface="Cascadia Mono"/>
                <a:cs typeface="Cascadia Mono"/>
              </a:rPr>
              <a:t>schedule completion callback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7450F0-56DF-4C54-9FD7-C23FD02B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86000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C8E2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22BCC-31CE-4666-83A0-926D0048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438400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rPr>
              <a:t>资源空闲</a:t>
            </a:r>
          </a:p>
          <a:p xmlns:a="http://schemas.openxmlformats.org/drawingml/2006/main">
            <a:pPr algn="ctr">
              <a:defRPr sz="1575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rPr>
              <a:t>请求立刻开始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D67ED2-F554-4696-8575-64AC40E6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76625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F"/>
          </a:solidFill>
          <a:ln xmlns:a="http://schemas.openxmlformats.org/drawingml/2006/main" w="9525">
            <a:solidFill>
              <a:srgbClr val="E9D2A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C99A08-72B6-4A8C-B292-5CA2E713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62902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rPr>
              <a:t>资源忙</a:t>
            </a:r>
          </a:p>
          <a:p xmlns:a="http://schemas.openxmlformats.org/drawingml/2006/main">
            <a:pPr algn="ctr">
              <a:defRPr sz="1575" b="1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C77D1A"/>
                </a:solidFill>
                <a:latin typeface="Microsoft YaHei UI"/>
                <a:ea typeface="Microsoft YaHei UI"/>
                <a:cs typeface="Microsoft YaHei UI"/>
              </a:rPr>
              <a:t>请求等到 busyUntil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DB3C9-29B6-4500-855F-AD8D8140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适合：单端口 cache、NoC link、简单 DRAM service slot、functional unit。</a:t>
            </a:r>
          </a:p>
        </p:txBody>
      </p:sp>
    </p:spTree>
    <p:extLst>
      <p:ext uri="{BB962C8B-B14F-4D97-AF65-F5344CB8AC3E}">
        <p14:creationId xmlns:p14="http://schemas.microsoft.com/office/powerpoint/2010/main" val="175456592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D3C665-C8DA-4A69-ADC9-7AED2D84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5C816-B1FD-4BBB-8372-16709763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30841-FC6F-4410-BE49-F249AC84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rPr>
              <a:t>DEMO WALKTHROUGH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4D16D8-D55C-4A52-B4F9-0932144A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A92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9286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7194E-C671-48FD-A39D-D4FA051F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Mini memory system 把核心路径跑成可手算时间线。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F86B3-31D3-4C76-B352-E8E80A10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rPr>
              <a:t>demo 不追求真实 cache，而是证明框架闭环。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82BAAB-BCF1-4252-886A-F252E9B4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1762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97227-1200-46DB-BCFF-21AADF97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4192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T=0</a:t>
            </a:r>
          </a:p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Core issues 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009EA-D63C-477A-B42F-11A8F935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909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84C9A-0DDC-4E2B-962B-82A5FC32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3432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4064B-6070-4E3E-B0AB-A0FD4CB1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57500"/>
            <a:ext cx="1762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B62D4-3819-4A4A-B2E3-C6BA2735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09900"/>
            <a:ext cx="14192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T=0</a:t>
            </a:r>
          </a:p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L1 miss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7405F0-3848-4E04-936C-4B4BD8D5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909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5CAE16-D061-4049-8FB2-29FE0548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432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4CD570-349B-4683-B13E-25EE516A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57500"/>
            <a:ext cx="1762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4CC582-03F3-46D3-8C37-382CC60E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09900"/>
            <a:ext cx="14192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T=4000</a:t>
            </a:r>
          </a:p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L2 miss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2FEBAA-F277-475A-A926-102AB80B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909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B27A9E-6781-4948-AE93-5F7833C0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3432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FCC689-80E2-43F4-9E37-0F8FD68E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57500"/>
            <a:ext cx="1762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13930C-71E0-437D-B06F-71F93C36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09900"/>
            <a:ext cx="14192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T=12000</a:t>
            </a:r>
          </a:p>
          <a:p xmlns:a="http://schemas.openxmlformats.org/drawingml/2006/main">
            <a:pPr algn="ctr">
              <a:defRPr sz="127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DRAM accepts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666E4B-2ED7-45C4-B4BE-E99FB29B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909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BCF096-A6E0-4EAA-80D0-09198DDE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432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583320-BFFB-4807-AF38-68B73BC1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57500"/>
            <a:ext cx="1762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C8E2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BE48AD-1C5F-4D22-A60F-9C0347C8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09900"/>
            <a:ext cx="14192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rPr>
              <a:t>T=62000</a:t>
            </a:r>
          </a:p>
          <a:p xmlns:a="http://schemas.openxmlformats.org/drawingml/2006/main">
            <a:pPr algn="ctr">
              <a:defRPr sz="1275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0E8F7E"/>
                </a:solidFill>
                <a:latin typeface="Microsoft YaHei UI"/>
                <a:ea typeface="Microsoft YaHei UI"/>
                <a:cs typeface="Microsoft YaHei UI"/>
              </a:rPr>
              <a:t>Core wakeup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54957E-2793-4ACB-AD93-00F7F5E8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load latency = 62000 ps；trace 同时记录 schedule 和 execute，解释完整因果链。</a:t>
            </a:r>
          </a:p>
        </p:txBody>
      </p:sp>
    </p:spTree>
    <p:extLst>
      <p:ext uri="{BB962C8B-B14F-4D97-AF65-F5344CB8AC3E}">
        <p14:creationId xmlns:p14="http://schemas.microsoft.com/office/powerpoint/2010/main" val="14455501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1C326A-54C9-4877-9EB5-9AB8D9EA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C5364-37B6-49C5-8D75-2008375B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E1AA5-0826-4E49-89D1-6FD33502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rPr>
              <a:t>CHECKLIST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B463C-DDA2-400D-BA1E-EA3C2E3A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A92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A9286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67602-2365-41A2-A8F2-349FA6CE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70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好的时序模型，应该能读懂、手算、复现。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FE98D-89DA-4765-A24B-A4945F8D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85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0">
                <a:solidFill>
                  <a:srgbClr val="68717E"/>
                </a:solidFill>
                <a:latin typeface="Microsoft YaHei UI"/>
                <a:ea typeface="Microsoft YaHei UI"/>
                <a:cs typeface="Microsoft YaHei UI"/>
              </a:rPr>
              <a:t>这是用户开发模型时最实用的自检清单。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969B4-222D-4D20-BFD3-787D68A6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4191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1"/>
          </a:solidFill>
          <a:ln xmlns:a="http://schemas.openxmlformats.org/drawingml/2006/main" w="9525">
            <a:solidFill>
              <a:srgbClr val="C8E2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CF862-E4B0-4880-810B-607081F8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38481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4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E7D4F"/>
                </a:solidFill>
                <a:latin typeface="Microsoft YaHei UI"/>
                <a:ea typeface="Microsoft YaHei UI"/>
                <a:cs typeface="Microsoft YaHei UI"/>
              </a:rPr>
              <a:t>应该做到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2E7D4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E7D4F"/>
                </a:solidFill>
                <a:latin typeface="Microsoft YaHei UI"/>
                <a:ea typeface="Microsoft YaHei UI"/>
                <a:cs typeface="Microsoft YaHei UI"/>
              </a:rPr>
              <a:t>• 读 trace 能看懂请求路径</a:t>
            </a:r>
          </a:p>
          <a:p xmlns:a="http://schemas.openxmlformats.org/drawingml/2006/main">
            <a:pPr algn="l">
              <a:defRPr sz="1500" b="1">
                <a:solidFill>
                  <a:srgbClr val="2E7D4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E7D4F"/>
                </a:solidFill>
                <a:latin typeface="Microsoft YaHei UI"/>
                <a:ea typeface="Microsoft YaHei UI"/>
                <a:cs typeface="Microsoft YaHei UI"/>
              </a:rPr>
              <a:t>• 组件只负责自己的硬件行为</a:t>
            </a:r>
          </a:p>
          <a:p xmlns:a="http://schemas.openxmlformats.org/drawingml/2006/main">
            <a:pPr algn="l">
              <a:defRPr sz="1500" b="1">
                <a:solidFill>
                  <a:srgbClr val="2E7D4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E7D4F"/>
                </a:solidFill>
                <a:latin typeface="Microsoft YaHei UI"/>
                <a:ea typeface="Microsoft YaHei UI"/>
                <a:cs typeface="Microsoft YaHei UI"/>
              </a:rPr>
              <a:t>• TimeEngine 只负责时间和顺序</a:t>
            </a:r>
          </a:p>
          <a:p xmlns:a="http://schemas.openxmlformats.org/drawingml/2006/main">
            <a:pPr algn="l">
              <a:defRPr sz="1500" b="1">
                <a:solidFill>
                  <a:srgbClr val="2E7D4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E7D4F"/>
                </a:solidFill>
                <a:latin typeface="Microsoft YaHei UI"/>
                <a:ea typeface="Microsoft YaHei UI"/>
                <a:cs typeface="Microsoft YaHei UI"/>
              </a:rPr>
              <a:t>• stats 能解释 latency 来源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2C22D-87FD-4357-A239-040778A6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4191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E6BAB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0709A-E3DE-4CA8-8046-1E27E448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33650"/>
            <a:ext cx="38481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5474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B54747"/>
                </a:solidFill>
                <a:latin typeface="Microsoft YaHei UI"/>
                <a:ea typeface="Microsoft YaHei UI"/>
                <a:cs typeface="Microsoft YaHei UI"/>
              </a:rPr>
              <a:t>避免这样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B5474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B54747"/>
                </a:solidFill>
                <a:latin typeface="Microsoft YaHei UI"/>
                <a:ea typeface="Microsoft YaHei UI"/>
                <a:cs typeface="Microsoft YaHei UI"/>
              </a:rPr>
              <a:t>• 不要把硬件策略写进 TimeEngine</a:t>
            </a:r>
          </a:p>
          <a:p xmlns:a="http://schemas.openxmlformats.org/drawingml/2006/main">
            <a:pPr algn="l">
              <a:defRPr sz="1500" b="1">
                <a:solidFill>
                  <a:srgbClr val="B5474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B54747"/>
                </a:solidFill>
                <a:latin typeface="Microsoft YaHei UI"/>
                <a:ea typeface="Microsoft YaHei UI"/>
                <a:cs typeface="Microsoft YaHei UI"/>
              </a:rPr>
              <a:t>• 不要直接操作 EventQueue</a:t>
            </a:r>
          </a:p>
          <a:p xmlns:a="http://schemas.openxmlformats.org/drawingml/2006/main">
            <a:pPr algn="l">
              <a:defRPr sz="1500" b="1">
                <a:solidFill>
                  <a:srgbClr val="B5474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B54747"/>
                </a:solidFill>
                <a:latin typeface="Microsoft YaHei UI"/>
                <a:ea typeface="Microsoft YaHei UI"/>
                <a:cs typeface="Microsoft YaHei UI"/>
              </a:rPr>
              <a:t>• 不要给所有组件强制 tick</a:t>
            </a:r>
          </a:p>
          <a:p xmlns:a="http://schemas.openxmlformats.org/drawingml/2006/main">
            <a:pPr algn="l">
              <a:defRPr sz="1500" b="1">
                <a:solidFill>
                  <a:srgbClr val="B5474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B54747"/>
                </a:solidFill>
                <a:latin typeface="Microsoft YaHei UI"/>
                <a:ea typeface="Microsoft YaHei UI"/>
                <a:cs typeface="Microsoft YaHei UI"/>
              </a:rPr>
              <a:t>• 不要使用模糊 label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663624-1F32-4F7F-A4C0-EF299337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8202A"/>
                </a:solidFill>
                <a:latin typeface="Microsoft YaHei UI"/>
                <a:ea typeface="Microsoft YaHei UI"/>
                <a:cs typeface="Microsoft YaHei UI"/>
              </a:rPr>
              <a:t>下一步练习：让 Core 连续发两个 load，观察第二个请求因 DRAM port 忙而排队。</a:t>
            </a:r>
          </a:p>
        </p:txBody>
      </p:sp>
    </p:spTree>
    <p:extLst>
      <p:ext uri="{BB962C8B-B14F-4D97-AF65-F5344CB8AC3E}">
        <p14:creationId xmlns:p14="http://schemas.microsoft.com/office/powerpoint/2010/main" val="16352401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2026-06-03T08:24:58.4240000Z</dcterms:created>
  <dcterms:modified xsi:type="dcterms:W3CDTF">2026-06-03T08:24:58.4240000Z</dcterms:modified>
</coreProperties>
</file>